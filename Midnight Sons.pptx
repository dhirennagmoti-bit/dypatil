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Unicode MS" panose="020B0604020202020204" charset="-128"/>
      <p:regular r:id="rId10"/>
    </p:embeddedFont>
    <p:embeddedFont>
      <p:font typeface="Heading Now 31-38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Heading Now 31-38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780" y="1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6" y="6251072"/>
            <a:ext cx="71119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b="1" spc="46" dirty="0" smtClean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Midnight Sons</a:t>
            </a:r>
            <a:endParaRPr lang="en-US" sz="4771" b="1" spc="46" dirty="0">
              <a:solidFill>
                <a:srgbClr val="4E4A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76" y="4624086"/>
            <a:ext cx="15158424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</a:p>
          <a:p>
            <a:pPr>
              <a:lnSpc>
                <a:spcPts val="5148"/>
              </a:lnSpc>
            </a:pPr>
            <a:r>
              <a:rPr lang="en-US" sz="5148" spc="50" dirty="0">
                <a:solidFill>
                  <a:schemeClr val="accent4">
                    <a:lumMod val="75000"/>
                  </a:scheme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Insure Chain: Policy-Aware Insurance Claims Workflow</a:t>
            </a:r>
            <a:endParaRPr lang="en-US" sz="5148" spc="50" dirty="0">
              <a:solidFill>
                <a:schemeClr val="accent4">
                  <a:lumMod val="75000"/>
                </a:schemeClr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3</a:t>
            </a:r>
            <a:r>
              <a:rPr lang="en-US" sz="5148" spc="50" dirty="0" smtClean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, 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B</a:t>
            </a:r>
            <a:r>
              <a:rPr lang="en-US" sz="5148" spc="50" dirty="0" smtClean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-02</a:t>
            </a:r>
            <a:endParaRPr lang="en-US" sz="5148" spc="50" dirty="0">
              <a:solidFill>
                <a:srgbClr val="161F3E"/>
              </a:solidFill>
              <a:latin typeface="Heading Now 31-38"/>
              <a:ea typeface="Heading Now 31-38"/>
              <a:cs typeface="Heading Now 31-38"/>
              <a:sym typeface="Heading Now 31-38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6676" y="7322200"/>
            <a:ext cx="467352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</a:t>
            </a:r>
            <a:r>
              <a:rPr lang="en-US" sz="4472" b="1" spc="43" dirty="0" smtClean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JER 4755393</a:t>
            </a:r>
            <a:endParaRPr lang="en-US" sz="4472" b="1" spc="43" dirty="0">
              <a:solidFill>
                <a:srgbClr val="4E4A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6256" y="-393054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0"/>
            <a:ext cx="18288000" cy="1053493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BDE51-A552-4CBC-B707-573E9619F684}"/>
              </a:ext>
            </a:extLst>
          </p:cNvPr>
          <p:cNvSpPr txBox="1"/>
          <p:nvPr/>
        </p:nvSpPr>
        <p:spPr>
          <a:xfrm>
            <a:off x="449790" y="1736323"/>
            <a:ext cx="7787269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Insurance claims require multiple rules to be checked together, but manual processing can lead to inconsistent decisions and weak accountability.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Challenges</a:t>
            </a:r>
            <a:endParaRPr lang="en-US" sz="2400" dirty="0"/>
          </a:p>
          <a:p>
            <a:r>
              <a:rPr lang="en-US" sz="2400" dirty="0"/>
              <a:t>Claims may be approved despite missed filing deadlines or excluded categories.</a:t>
            </a:r>
          </a:p>
          <a:p>
            <a:r>
              <a:rPr lang="en-US" sz="2400" dirty="0"/>
              <a:t>The same incident may be submitted under different claim references and paid twice.</a:t>
            </a:r>
          </a:p>
          <a:p>
            <a:r>
              <a:rPr lang="en-US" sz="2400" dirty="0"/>
              <a:t>Unauthorized users may approve claims or bypass required workflow stages.</a:t>
            </a:r>
          </a:p>
          <a:p>
            <a:r>
              <a:rPr lang="en-US" sz="2400" dirty="0"/>
              <a:t>Historical decisions may be difficult to verify if records are altered.</a:t>
            </a:r>
          </a:p>
          <a:p>
            <a:r>
              <a:rPr lang="en-US" sz="2400" dirty="0"/>
              <a:t>Claim narratives may contradict structured data and require human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Our Objective</a:t>
            </a:r>
            <a:endParaRPr lang="en-US" sz="2400" dirty="0"/>
          </a:p>
          <a:p>
            <a:r>
              <a:rPr lang="en-US" sz="2400" dirty="0"/>
              <a:t>Build a policy-aware claims workflow that applies explicit rules, prevents duplicate incidents from being paid twice, enforces authorized state transitions, and preserves verifiable decision history.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346" y="2770393"/>
            <a:ext cx="9147729" cy="4529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0"/>
            <a:ext cx="18288000" cy="10477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B4A817-BE08-41DA-A205-8E93475EEAD9}"/>
              </a:ext>
            </a:extLst>
          </p:cNvPr>
          <p:cNvSpPr txBox="1"/>
          <p:nvPr/>
        </p:nvSpPr>
        <p:spPr>
          <a:xfrm>
            <a:off x="255295" y="1544038"/>
            <a:ext cx="723471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policy-aware insurance claims workflow that combines deterministic policy checks, controlled approvals, duplicate-incident prevention, and a cryptographically verifiable audit trail.</a:t>
            </a:r>
          </a:p>
          <a:p>
            <a:r>
              <a:rPr lang="en-US" sz="2400" b="1" dirty="0"/>
              <a:t>Core Capabilities</a:t>
            </a:r>
            <a:endParaRPr lang="en-US" sz="2400" dirty="0"/>
          </a:p>
          <a:p>
            <a:r>
              <a:rPr lang="en-US" sz="2400" b="1" dirty="0"/>
              <a:t>Policy Rule Engine</a:t>
            </a:r>
            <a:r>
              <a:rPr lang="en-US" sz="2400" dirty="0"/>
              <a:t> — Checks filing deadlines, excluded categories, and coverage limits with clear decision reasons.</a:t>
            </a:r>
          </a:p>
          <a:p>
            <a:r>
              <a:rPr lang="en-US" sz="2400" b="1" dirty="0"/>
              <a:t>Duplicate Guard</a:t>
            </a:r>
            <a:r>
              <a:rPr lang="en-US" sz="2400" dirty="0"/>
              <a:t> — Detects claims linked to the same incident under the same policy, even when claim references differ.</a:t>
            </a:r>
          </a:p>
          <a:p>
            <a:r>
              <a:rPr lang="en-US" sz="2400" b="1" dirty="0"/>
              <a:t>Role-Based Workflow</a:t>
            </a:r>
            <a:r>
              <a:rPr lang="en-US" sz="2400" dirty="0"/>
              <a:t> — Enforces permitted state transitions and role-specific authorization.</a:t>
            </a:r>
          </a:p>
          <a:p>
            <a:r>
              <a:rPr lang="en-US" sz="2400" b="1" dirty="0"/>
              <a:t>Verifiable Audit Trail</a:t>
            </a:r>
            <a:r>
              <a:rPr lang="en-US" sz="2400" dirty="0"/>
              <a:t> — Records accepted decisions and refusals, with integrity verification.</a:t>
            </a:r>
          </a:p>
          <a:p>
            <a:r>
              <a:rPr lang="en-US" sz="2400" b="1" dirty="0"/>
              <a:t>AI-Assisted Review</a:t>
            </a:r>
            <a:r>
              <a:rPr lang="en-US" sz="2400" dirty="0"/>
              <a:t> — Flags possible narrative inconsistencies for human review without changing eligibility or claim status.</a:t>
            </a:r>
          </a:p>
          <a:p>
            <a:r>
              <a:rPr lang="en-US" sz="2400" b="1" dirty="0"/>
              <a:t>Design Principle:</a:t>
            </a:r>
            <a:r>
              <a:rPr lang="en-US" sz="2400" dirty="0"/>
              <a:t> Transparent rules. Controlled decisions. Traceable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8288000" cy="105537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4F1F1A-0E21-41AE-A313-F13DC965A32F}"/>
              </a:ext>
            </a:extLst>
          </p:cNvPr>
          <p:cNvSpPr txBox="1"/>
          <p:nvPr/>
        </p:nvSpPr>
        <p:spPr>
          <a:xfrm>
            <a:off x="242961" y="2079174"/>
            <a:ext cx="737703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Core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Claim Submission:</a:t>
            </a:r>
            <a:r>
              <a:rPr lang="en-US" sz="2400" dirty="0"/>
              <a:t> Details and documents uploaded.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Eligibility Check:</a:t>
            </a:r>
            <a:r>
              <a:rPr lang="en-US" sz="2400" dirty="0"/>
              <a:t> Coverage, exclusions, deadlines and limits validated.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Role-Based Review:</a:t>
            </a:r>
            <a:r>
              <a:rPr lang="en-US" sz="2400" dirty="0"/>
              <a:t> Officers review; supervisors approve or reject.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Audit Logging:</a:t>
            </a:r>
            <a:r>
              <a:rPr lang="en-US" sz="2400" dirty="0"/>
              <a:t> Timestamped actions linked using SHA-256 hashes.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Integrity Verification:</a:t>
            </a:r>
            <a:r>
              <a:rPr lang="en-US" sz="2400" dirty="0"/>
              <a:t> Auditors verify audit history.</a:t>
            </a:r>
          </a:p>
          <a:p>
            <a:r>
              <a:rPr lang="en-US" sz="2400" b="1" dirty="0"/>
              <a:t>Deployment &amp;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Hosting:</a:t>
            </a:r>
            <a:r>
              <a:rPr lang="en-US" sz="2400" dirty="0"/>
              <a:t> </a:t>
            </a:r>
            <a:r>
              <a:rPr lang="en-US" sz="2400" dirty="0" err="1"/>
              <a:t>Vercel</a:t>
            </a:r>
            <a:r>
              <a:rPr lang="en-US" sz="2400" dirty="0"/>
              <a:t> (frontend), Render (backend), </a:t>
            </a:r>
            <a:r>
              <a:rPr lang="en-US" sz="2400" dirty="0" err="1"/>
              <a:t>Supabase</a:t>
            </a:r>
            <a:r>
              <a:rPr lang="en-US" sz="2400" dirty="0"/>
              <a:t> (database).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Security:</a:t>
            </a:r>
            <a:r>
              <a:rPr lang="en-US" sz="2400" dirty="0"/>
              <a:t> Server-side authorization, protected secrets and validated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AI Assistant:</a:t>
            </a:r>
            <a:r>
              <a:rPr lang="en-US" sz="2400" dirty="0"/>
              <a:t> Explains verified information but cannot approve claims or override policy rules.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791" y="2677479"/>
            <a:ext cx="10058400" cy="40170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91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9B856-EDED-48C1-89DA-E9FF3343DED9}"/>
              </a:ext>
            </a:extLst>
          </p:cNvPr>
          <p:cNvSpPr txBox="1"/>
          <p:nvPr/>
        </p:nvSpPr>
        <p:spPr>
          <a:xfrm>
            <a:off x="246860" y="1625360"/>
            <a:ext cx="85778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InsureChain</a:t>
            </a:r>
            <a:r>
              <a:rPr lang="en-US" sz="2400" dirty="0"/>
              <a:t> is feasible to develop as a hackathon prototype using existing web technologies and a modular architecture.</a:t>
            </a:r>
          </a:p>
          <a:p>
            <a:r>
              <a:rPr lang="en-US" sz="2400" b="1" dirty="0"/>
              <a:t>1. Technical Feasibility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Built using React, Java Spring Boot and </a:t>
            </a:r>
            <a:r>
              <a:rPr lang="en-US" sz="2400" dirty="0" err="1"/>
              <a:t>Supabase</a:t>
            </a:r>
            <a:r>
              <a:rPr lang="en-US" sz="2400" dirty="0"/>
              <a:t> PostgreSQL, with rule-based claim validation and role-based access control.</a:t>
            </a:r>
          </a:p>
          <a:p>
            <a:r>
              <a:rPr lang="en-US" sz="2400" b="1" dirty="0"/>
              <a:t>2. Time Feasibility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 focused MVP can prioritize claim submission, eligibility checks, supervisor decisions and audit verification within the 12-hour hackathon.</a:t>
            </a:r>
          </a:p>
          <a:p>
            <a:r>
              <a:rPr lang="en-US" sz="2400" b="1" dirty="0"/>
              <a:t>3. Business Viability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Can help insurers standardize claim reviews, improve transparency and strengthen accountability.</a:t>
            </a:r>
          </a:p>
          <a:p>
            <a:r>
              <a:rPr lang="en-US" sz="2400" b="1" dirty="0"/>
              <a:t>4. Security and Scalability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Role-based permissions, persistent database storage and hash-linked audit records provide a foundation for future expansion.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37" y="2540849"/>
            <a:ext cx="8916956" cy="35612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317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29376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E170C-B5E0-4D55-9174-38AEC0D49524}"/>
              </a:ext>
            </a:extLst>
          </p:cNvPr>
          <p:cNvSpPr txBox="1"/>
          <p:nvPr/>
        </p:nvSpPr>
        <p:spPr>
          <a:xfrm>
            <a:off x="355509" y="1556747"/>
            <a:ext cx="9536347" cy="759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InsureChain</a:t>
            </a:r>
            <a:r>
              <a:rPr lang="en-US" sz="2400" dirty="0"/>
              <a:t> improves transparency, accountability and trust in insurance claim processing through policy-aware validation and secure workflow management.</a:t>
            </a:r>
          </a:p>
          <a:p>
            <a:r>
              <a:rPr lang="en-US" sz="2400" b="1" dirty="0"/>
              <a:t>1. Transparent Decisions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Explains why a claim passes or fails specific policy rules.</a:t>
            </a:r>
          </a:p>
          <a:p>
            <a:r>
              <a:rPr lang="en-US" sz="2400" b="1" dirty="0"/>
              <a:t>2. Efficient Claim Reviews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Organizes claim details, eligibility results and recommendations in one workflow.</a:t>
            </a:r>
          </a:p>
          <a:p>
            <a:r>
              <a:rPr lang="en-US" sz="2400" b="1" dirty="0"/>
              <a:t>3. Stronger Policy Compliance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Enforces role-based approvals and prevents unauthorized workflow transitions.</a:t>
            </a:r>
          </a:p>
          <a:p>
            <a:r>
              <a:rPr lang="en-US" sz="2400" b="1" dirty="0"/>
              <a:t>4. Duplicate Claim Detection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Flags potentially duplicate submissions for further investigation.</a:t>
            </a:r>
          </a:p>
          <a:p>
            <a:r>
              <a:rPr lang="en-US" sz="2400" b="1" dirty="0"/>
              <a:t>5. Verifiable Audit Trail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Records actions and decisions, enabling auditors to check audit-log integrity.</a:t>
            </a:r>
          </a:p>
          <a:p>
            <a:r>
              <a:rPr lang="en-US" sz="2400" b="1" dirty="0"/>
              <a:t>6. Better Coordination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Connects policyholders, claims officers, supervisors, insurer administrators and auditors.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718" y="3181877"/>
            <a:ext cx="8648114" cy="3453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4462" y="-21317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221244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428DE-9BFC-4A4B-93E0-137379B12683}"/>
              </a:ext>
            </a:extLst>
          </p:cNvPr>
          <p:cNvSpPr txBox="1"/>
          <p:nvPr/>
        </p:nvSpPr>
        <p:spPr>
          <a:xfrm>
            <a:off x="273911" y="1501045"/>
            <a:ext cx="8610600" cy="8338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InsureChain</a:t>
            </a:r>
            <a:r>
              <a:rPr lang="en-US" sz="2400" dirty="0"/>
              <a:t> stands out by combining explainable policy rules, human-controlled approvals and cryptographically verifiable audit records in one insurance claims workflow.</a:t>
            </a:r>
          </a:p>
          <a:p>
            <a:r>
              <a:rPr lang="en-US" sz="2400" b="1" dirty="0"/>
              <a:t>1. Explainable Eligibility Engine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Provides rule-by-rule results for coverage limits, exclusions and filing deadlines instead of unexplained decisions.</a:t>
            </a:r>
          </a:p>
          <a:p>
            <a:r>
              <a:rPr lang="en-US" sz="2400" b="1" dirty="0"/>
              <a:t>2. Human-Controlled Decisions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Claims officers recommend; authorized supervisors approve or reject. High-value claims cannot bypass failed eligibility rules.</a:t>
            </a:r>
          </a:p>
          <a:p>
            <a:r>
              <a:rPr lang="en-US" sz="2400" b="1" dirty="0"/>
              <a:t>3. SHA-256 Hash-Linked Audit Trail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Links audit records so inconsistencies or tampering can be detected through integrity verification.</a:t>
            </a:r>
          </a:p>
          <a:p>
            <a:r>
              <a:rPr lang="en-US" sz="2400" b="1" dirty="0"/>
              <a:t>4. Duplicate-Risk Detection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Flags potentially duplicated claims for human review rather than automatically declaring fraud.</a:t>
            </a:r>
          </a:p>
          <a:p>
            <a:r>
              <a:rPr lang="en-US" sz="2400" b="1" dirty="0"/>
              <a:t>5. Responsible AI Assistant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Explains claim information and policy rules without independently approving, rejecting or paying claims.</a:t>
            </a:r>
          </a:p>
          <a:p>
            <a:r>
              <a:rPr lang="en-US" sz="2400" b="1" dirty="0"/>
              <a:t>6. End-to-End Role-Based Workflow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Connects five roles—policyholder, claims officer, supervisor, insurer admin and auditor—with controlled permissions.</a:t>
            </a:r>
          </a:p>
          <a:p>
            <a:pPr>
              <a:lnSpc>
                <a:spcPct val="150000"/>
              </a:lnSpc>
            </a:pPr>
            <a:endParaRPr lang="en-IN" sz="2400" b="1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488" y="2788053"/>
            <a:ext cx="8456574" cy="4756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462</Words>
  <Application>Microsoft Office PowerPoint</Application>
  <PresentationFormat>Custom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Heading Now 31-38</vt:lpstr>
      <vt:lpstr>Calibri</vt:lpstr>
      <vt:lpstr>Heading Now 31-38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A1</dc:creator>
  <cp:lastModifiedBy>DELL</cp:lastModifiedBy>
  <cp:revision>15</cp:revision>
  <dcterms:created xsi:type="dcterms:W3CDTF">2006-08-16T00:00:00Z</dcterms:created>
  <dcterms:modified xsi:type="dcterms:W3CDTF">2026-10-11T15:20:44Z</dcterms:modified>
  <dc:identifier>DAHXr7I3BNw</dc:identifier>
</cp:coreProperties>
</file>